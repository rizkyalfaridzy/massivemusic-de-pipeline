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image" Target="../media/image-3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2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418320" y="-2011680"/>
            <a:ext cx="5029200" cy="5029200"/>
          </a:xfrm>
          <a:prstGeom prst="ellipse">
            <a:avLst/>
          </a:prstGeom>
          <a:solidFill>
            <a:srgbClr val="201B2E"/>
          </a:solidFill>
          <a:ln/>
        </p:spPr>
      </p:sp>
      <p:sp>
        <p:nvSpPr>
          <p:cNvPr id="3" name="Shape 1"/>
          <p:cNvSpPr/>
          <p:nvPr/>
        </p:nvSpPr>
        <p:spPr>
          <a:xfrm>
            <a:off x="10424160" y="4297680"/>
            <a:ext cx="3840480" cy="3840480"/>
          </a:xfrm>
          <a:prstGeom prst="ellipse">
            <a:avLst/>
          </a:prstGeom>
          <a:solidFill>
            <a:srgbClr val="201B2E"/>
          </a:solidFill>
          <a:ln/>
        </p:spPr>
      </p:sp>
      <p:sp>
        <p:nvSpPr>
          <p:cNvPr id="4" name="Shape 2"/>
          <p:cNvSpPr/>
          <p:nvPr/>
        </p:nvSpPr>
        <p:spPr>
          <a:xfrm>
            <a:off x="822960" y="777240"/>
            <a:ext cx="868680" cy="868680"/>
          </a:xfrm>
          <a:prstGeom prst="ellipse">
            <a:avLst/>
          </a:prstGeom>
          <a:solidFill>
            <a:srgbClr val="E11D2A"/>
          </a:solidFill>
          <a:ln/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8817" y="1003097"/>
            <a:ext cx="416966" cy="41696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828800" y="86868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12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MASSIVE MUSIC  ·  TECHNICAL TEST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777240" y="228600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DSP Metadata Pipeline</a:t>
            </a:r>
            <a:endParaRPr lang="en-US" sz="5400" dirty="0"/>
          </a:p>
        </p:txBody>
      </p:sp>
      <p:sp>
        <p:nvSpPr>
          <p:cNvPr id="8" name="Text 5"/>
          <p:cNvSpPr/>
          <p:nvPr/>
        </p:nvSpPr>
        <p:spPr>
          <a:xfrm>
            <a:off x="822960" y="3383280"/>
            <a:ext cx="9601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C7CD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retrieval, cleaning &amp; storage of song / video metadata</a:t>
            </a:r>
            <a:endParaRPr lang="en-US" sz="1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C7CD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Spotify and YouTube — built for analysts and data scientists.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822960" y="4892040"/>
            <a:ext cx="640080" cy="640080"/>
          </a:xfrm>
          <a:prstGeom prst="ellipse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9381" y="5058461"/>
            <a:ext cx="307238" cy="307238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1600200" y="4892040"/>
            <a:ext cx="640080" cy="640080"/>
          </a:xfrm>
          <a:prstGeom prst="ellipse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66621" y="5058461"/>
            <a:ext cx="307238" cy="307238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2468880" y="489204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7CD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Engineer · Rizky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E11D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1325880" y="41148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Brief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344168" y="960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pipeline, two questions the business needs answered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31520" y="1691640"/>
            <a:ext cx="5120640" cy="3566160"/>
          </a:xfrm>
          <a:prstGeom prst="roundRect">
            <a:avLst>
              <a:gd name="adj" fmla="val 3077"/>
            </a:avLst>
          </a:prstGeom>
          <a:solidFill>
            <a:srgbClr val="F4F6F8"/>
          </a:solidFill>
          <a:ln/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143000" y="2103120"/>
            <a:ext cx="914400" cy="914400"/>
          </a:xfrm>
          <a:prstGeom prst="ellipse">
            <a:avLst/>
          </a:prstGeom>
          <a:solidFill>
            <a:srgbClr val="E11D2A"/>
          </a:solidFill>
          <a:ln/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80744" y="2340864"/>
            <a:ext cx="438912" cy="43891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2286000" y="2148840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Videos / song</a:t>
            </a:r>
            <a:endParaRPr lang="en-US" sz="2600" dirty="0"/>
          </a:p>
        </p:txBody>
      </p:sp>
      <p:sp>
        <p:nvSpPr>
          <p:cNvPr id="9" name="Text 6"/>
          <p:cNvSpPr/>
          <p:nvPr/>
        </p:nvSpPr>
        <p:spPr>
          <a:xfrm>
            <a:off x="1143000" y="3246120"/>
            <a:ext cx="4297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7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many videos does each song have on YouTube?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1143000" y="443484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OUTPUT  </a:t>
            </a:r>
            <a:pPr indent="0" marL="0">
              <a:buNone/>
            </a:pPr>
            <a:r>
              <a:rPr lang="en-US" sz="1250" b="1" dirty="0">
                <a:solidFill>
                  <a:srgbClr val="E11D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mart_song_youtube_video_counts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6263640" y="1691640"/>
            <a:ext cx="5120640" cy="3566160"/>
          </a:xfrm>
          <a:prstGeom prst="roundRect">
            <a:avLst>
              <a:gd name="adj" fmla="val 3077"/>
            </a:avLst>
          </a:prstGeom>
          <a:solidFill>
            <a:srgbClr val="F4F6F8"/>
          </a:solidFill>
          <a:ln/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675120" y="2103120"/>
            <a:ext cx="914400" cy="914400"/>
          </a:xfrm>
          <a:prstGeom prst="ellipse">
            <a:avLst/>
          </a:prstGeom>
          <a:solidFill>
            <a:srgbClr val="12B5A5"/>
          </a:solidFill>
          <a:ln/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12864" y="2340864"/>
            <a:ext cx="438912" cy="438912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818120" y="2148840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ISRCs / song</a:t>
            </a:r>
            <a:endParaRPr lang="en-US" sz="2600" dirty="0"/>
          </a:p>
        </p:txBody>
      </p:sp>
      <p:sp>
        <p:nvSpPr>
          <p:cNvPr id="15" name="Text 11"/>
          <p:cNvSpPr/>
          <p:nvPr/>
        </p:nvSpPr>
        <p:spPr>
          <a:xfrm>
            <a:off x="6675120" y="3246120"/>
            <a:ext cx="4297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7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many ISRCs does each song have on Spotify?</a:t>
            </a:r>
            <a:endParaRPr lang="en-US" sz="1700" dirty="0"/>
          </a:p>
        </p:txBody>
      </p:sp>
      <p:sp>
        <p:nvSpPr>
          <p:cNvPr id="16" name="Text 12"/>
          <p:cNvSpPr/>
          <p:nvPr/>
        </p:nvSpPr>
        <p:spPr>
          <a:xfrm>
            <a:off x="6675120" y="443484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OUTPUT  </a:t>
            </a:r>
            <a:pPr indent="0" marL="0">
              <a:buNone/>
            </a:pPr>
            <a:r>
              <a:rPr lang="en-US" sz="1250" b="1" dirty="0">
                <a:solidFill>
                  <a:srgbClr val="12B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mart_song_spotify_isrc_counts</a:t>
            </a:r>
            <a:endParaRPr lang="en-US" sz="1250" dirty="0"/>
          </a:p>
        </p:txBody>
      </p:sp>
      <p:sp>
        <p:nvSpPr>
          <p:cNvPr id="17" name="Text 13"/>
          <p:cNvSpPr/>
          <p:nvPr/>
        </p:nvSpPr>
        <p:spPr>
          <a:xfrm>
            <a:off x="731520" y="557784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Inputs:  internal song catalog (Google Sheet)  +  Spotify Web API  +  YouTube Data API v3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E11D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1325880" y="41148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Pipeline Architecture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344168" y="960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 → Load → Transform → Serve, orchestrated by Airflow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1965960"/>
            <a:ext cx="2542032" cy="2926080"/>
          </a:xfrm>
          <a:prstGeom prst="roundRect">
            <a:avLst>
              <a:gd name="adj" fmla="val 3597"/>
            </a:avLst>
          </a:prstGeom>
          <a:solidFill>
            <a:srgbClr val="F4F6F8"/>
          </a:solidFill>
          <a:ln/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453896" y="2286000"/>
            <a:ext cx="914400" cy="914400"/>
          </a:xfrm>
          <a:prstGeom prst="ellipse">
            <a:avLst/>
          </a:prstGeom>
          <a:solidFill>
            <a:srgbClr val="E11D2A"/>
          </a:solidFill>
          <a:ln/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91640" y="2523744"/>
            <a:ext cx="438912" cy="43891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40080" y="3337560"/>
            <a:ext cx="2542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EXTRACT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868680" y="3794760"/>
            <a:ext cx="208483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4450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jobs pull catalog, ISRCs (Spotify → MusicBrainz fallback) &amp; YouTube videos. Retries, backoff, quota guard.</a:t>
            </a:r>
            <a:endParaRPr lang="en-US" sz="125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72968" y="2606040"/>
            <a:ext cx="310896" cy="310896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3474720" y="1965960"/>
            <a:ext cx="2542032" cy="2926080"/>
          </a:xfrm>
          <a:prstGeom prst="roundRect">
            <a:avLst>
              <a:gd name="adj" fmla="val 3597"/>
            </a:avLst>
          </a:prstGeom>
          <a:solidFill>
            <a:srgbClr val="F4F6F8"/>
          </a:solidFill>
          <a:ln/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288536" y="2286000"/>
            <a:ext cx="914400" cy="914400"/>
          </a:xfrm>
          <a:prstGeom prst="ellipse">
            <a:avLst/>
          </a:prstGeom>
          <a:solidFill>
            <a:srgbClr val="1F2430"/>
          </a:solidFill>
          <a:ln/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26280" y="2523744"/>
            <a:ext cx="438912" cy="438912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3474720" y="3337560"/>
            <a:ext cx="2542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LOAD → RAW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3703320" y="3794760"/>
            <a:ext cx="208483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4450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Immutable landing zone with ingest metadata + load-audit for lineage.</a:t>
            </a:r>
            <a:endParaRPr lang="en-US" sz="125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07608" y="2606040"/>
            <a:ext cx="310896" cy="310896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6309360" y="1965960"/>
            <a:ext cx="2542032" cy="2926080"/>
          </a:xfrm>
          <a:prstGeom prst="roundRect">
            <a:avLst>
              <a:gd name="adj" fmla="val 3597"/>
            </a:avLst>
          </a:prstGeom>
          <a:solidFill>
            <a:srgbClr val="F4F6F8"/>
          </a:solidFill>
          <a:ln/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7123176" y="2286000"/>
            <a:ext cx="914400" cy="914400"/>
          </a:xfrm>
          <a:prstGeom prst="ellipse">
            <a:avLst/>
          </a:prstGeom>
          <a:solidFill>
            <a:srgbClr val="12B5A5"/>
          </a:solidFill>
          <a:ln/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60920" y="2523744"/>
            <a:ext cx="438912" cy="438912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6309360" y="3337560"/>
            <a:ext cx="2542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TRANSFORM (dbt)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6537960" y="3794760"/>
            <a:ext cx="208483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4450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staging: clean, standardize, dedup, validate.  marts: dim + facts + answers.</a:t>
            </a:r>
            <a:endParaRPr lang="en-US" sz="1250" dirty="0"/>
          </a:p>
        </p:txBody>
      </p:sp>
      <p:pic>
        <p:nvPicPr>
          <p:cNvPr id="2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42248" y="2606040"/>
            <a:ext cx="310896" cy="310896"/>
          </a:xfrm>
          <a:prstGeom prst="rect">
            <a:avLst/>
          </a:prstGeom>
        </p:spPr>
      </p:pic>
      <p:sp>
        <p:nvSpPr>
          <p:cNvPr id="23" name="Shape 15"/>
          <p:cNvSpPr/>
          <p:nvPr/>
        </p:nvSpPr>
        <p:spPr>
          <a:xfrm>
            <a:off x="9144000" y="1965960"/>
            <a:ext cx="2542032" cy="2926080"/>
          </a:xfrm>
          <a:prstGeom prst="roundRect">
            <a:avLst>
              <a:gd name="adj" fmla="val 3597"/>
            </a:avLst>
          </a:prstGeom>
          <a:solidFill>
            <a:srgbClr val="F4F6F8"/>
          </a:solidFill>
          <a:ln/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24" name="Shape 16"/>
          <p:cNvSpPr/>
          <p:nvPr/>
        </p:nvSpPr>
        <p:spPr>
          <a:xfrm>
            <a:off x="9957816" y="2286000"/>
            <a:ext cx="914400" cy="914400"/>
          </a:xfrm>
          <a:prstGeom prst="ellipse">
            <a:avLst/>
          </a:prstGeom>
          <a:solidFill>
            <a:srgbClr val="3B82F6"/>
          </a:solidFill>
          <a:ln/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25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195560" y="2523744"/>
            <a:ext cx="438912" cy="438912"/>
          </a:xfrm>
          <a:prstGeom prst="rect">
            <a:avLst/>
          </a:prstGeom>
        </p:spPr>
      </p:pic>
      <p:sp>
        <p:nvSpPr>
          <p:cNvPr id="26" name="Text 17"/>
          <p:cNvSpPr/>
          <p:nvPr/>
        </p:nvSpPr>
        <p:spPr>
          <a:xfrm>
            <a:off x="9144000" y="3337560"/>
            <a:ext cx="2542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SERVE</a:t>
            </a:r>
            <a:endParaRPr lang="en-US" sz="1700" dirty="0"/>
          </a:p>
        </p:txBody>
      </p:sp>
      <p:sp>
        <p:nvSpPr>
          <p:cNvPr id="27" name="Text 18"/>
          <p:cNvSpPr/>
          <p:nvPr/>
        </p:nvSpPr>
        <p:spPr>
          <a:xfrm>
            <a:off x="9372600" y="3794760"/>
            <a:ext cx="208483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4450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warehouse → SQL, BI &amp; data science.</a:t>
            </a:r>
            <a:endParaRPr lang="en-US" sz="1250" dirty="0"/>
          </a:p>
        </p:txBody>
      </p:sp>
      <p:sp>
        <p:nvSpPr>
          <p:cNvPr id="28" name="Shape 19"/>
          <p:cNvSpPr/>
          <p:nvPr/>
        </p:nvSpPr>
        <p:spPr>
          <a:xfrm>
            <a:off x="640080" y="5212080"/>
            <a:ext cx="10881360" cy="868680"/>
          </a:xfrm>
          <a:prstGeom prst="roundRect">
            <a:avLst>
              <a:gd name="adj" fmla="val 10526"/>
            </a:avLst>
          </a:prstGeom>
          <a:solidFill>
            <a:srgbClr val="14121C"/>
          </a:solidFill>
          <a:ln/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29" name="Shape 20"/>
          <p:cNvSpPr/>
          <p:nvPr/>
        </p:nvSpPr>
        <p:spPr>
          <a:xfrm>
            <a:off x="914400" y="5376672"/>
            <a:ext cx="548640" cy="548640"/>
          </a:xfrm>
          <a:prstGeom prst="ellipse">
            <a:avLst/>
          </a:prstGeom>
          <a:solidFill>
            <a:srgbClr val="E11D2A"/>
          </a:solidFill>
          <a:ln/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30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57046" y="5519318"/>
            <a:ext cx="263347" cy="263347"/>
          </a:xfrm>
          <a:prstGeom prst="rect">
            <a:avLst/>
          </a:prstGeom>
        </p:spPr>
      </p:pic>
      <p:sp>
        <p:nvSpPr>
          <p:cNvPr id="31" name="Text 21"/>
          <p:cNvSpPr/>
          <p:nvPr/>
        </p:nvSpPr>
        <p:spPr>
          <a:xfrm>
            <a:off x="1645920" y="5212080"/>
            <a:ext cx="9692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Orchestration — Apache Airflow:  </a:t>
            </a:r>
            <a:pPr indent="0" marL="0">
              <a:buNone/>
            </a:pPr>
            <a:r>
              <a:rPr lang="en-US" sz="1350" dirty="0">
                <a:solidFill>
                  <a:srgbClr val="C7CD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DAG, each stage a DockerOperator task with retries &amp; exponential backoff. Everything reproducible via Docker Compose.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E11D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1325880" y="41148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Tech Stack &amp; Why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344168" y="960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Local-runnable today, cloud-portable tomorrow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1783080"/>
            <a:ext cx="3474720" cy="1828800"/>
          </a:xfrm>
          <a:prstGeom prst="roundRect">
            <a:avLst>
              <a:gd name="adj" fmla="val 5000"/>
            </a:avLst>
          </a:prstGeom>
          <a:solidFill>
            <a:srgbClr val="F4F6F8"/>
          </a:solidFill>
          <a:ln/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60120" y="2075688"/>
            <a:ext cx="777240" cy="777240"/>
          </a:xfrm>
          <a:prstGeom prst="ellipse">
            <a:avLst/>
          </a:prstGeom>
          <a:solidFill>
            <a:srgbClr val="E11D2A"/>
          </a:solidFill>
          <a:ln/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62202" y="2277770"/>
            <a:ext cx="373075" cy="37307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74520" y="2075688"/>
            <a:ext cx="2148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Python: spotipy · MusicBrainz · YouTube</a:t>
            </a:r>
            <a:endParaRPr lang="en-US" sz="1550" dirty="0"/>
          </a:p>
        </p:txBody>
      </p:sp>
      <p:sp>
        <p:nvSpPr>
          <p:cNvPr id="9" name="Text 6"/>
          <p:cNvSpPr/>
          <p:nvPr/>
        </p:nvSpPr>
        <p:spPr>
          <a:xfrm>
            <a:off x="960120" y="292608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4450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Pluggable ISRC source (Spotify or free MusicBrainz); tenacity retries.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4343400" y="1783080"/>
            <a:ext cx="3474720" cy="1828800"/>
          </a:xfrm>
          <a:prstGeom prst="roundRect">
            <a:avLst>
              <a:gd name="adj" fmla="val 5000"/>
            </a:avLst>
          </a:prstGeom>
          <a:solidFill>
            <a:srgbClr val="F4F6F8"/>
          </a:solidFill>
          <a:ln/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663440" y="2075688"/>
            <a:ext cx="777240" cy="777240"/>
          </a:xfrm>
          <a:prstGeom prst="ellipse">
            <a:avLst/>
          </a:prstGeom>
          <a:solidFill>
            <a:srgbClr val="12B5A5"/>
          </a:solidFill>
          <a:ln/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65522" y="2277770"/>
            <a:ext cx="373075" cy="373075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577840" y="2075688"/>
            <a:ext cx="2148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dbt</a:t>
            </a:r>
            <a:endParaRPr lang="en-US" sz="1550" dirty="0"/>
          </a:p>
        </p:txBody>
      </p:sp>
      <p:sp>
        <p:nvSpPr>
          <p:cNvPr id="14" name="Text 10"/>
          <p:cNvSpPr/>
          <p:nvPr/>
        </p:nvSpPr>
        <p:spPr>
          <a:xfrm>
            <a:off x="4663440" y="292608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4450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SQL-first, versioned, tested transforms. Lineage + docs for free.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8046720" y="1783080"/>
            <a:ext cx="3474720" cy="1828800"/>
          </a:xfrm>
          <a:prstGeom prst="roundRect">
            <a:avLst>
              <a:gd name="adj" fmla="val 5000"/>
            </a:avLst>
          </a:prstGeom>
          <a:solidFill>
            <a:srgbClr val="F4F6F8"/>
          </a:solidFill>
          <a:ln/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366760" y="2075688"/>
            <a:ext cx="777240" cy="777240"/>
          </a:xfrm>
          <a:prstGeom prst="ellipse">
            <a:avLst/>
          </a:prstGeom>
          <a:solidFill>
            <a:srgbClr val="3B82F6"/>
          </a:solidFill>
          <a:ln/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68842" y="2277770"/>
            <a:ext cx="373075" cy="373075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9281160" y="2075688"/>
            <a:ext cx="2148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PostgreSQL (medallion)</a:t>
            </a:r>
            <a:endParaRPr lang="en-US" sz="1550" dirty="0"/>
          </a:p>
        </p:txBody>
      </p:sp>
      <p:sp>
        <p:nvSpPr>
          <p:cNvPr id="19" name="Text 14"/>
          <p:cNvSpPr/>
          <p:nvPr/>
        </p:nvSpPr>
        <p:spPr>
          <a:xfrm>
            <a:off x="8366760" y="292608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4450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/ staging / marts schemas. ANSI-SQL = lift-and-shift to cloud.</a:t>
            </a:r>
            <a:endParaRPr lang="en-US" sz="1250" dirty="0"/>
          </a:p>
        </p:txBody>
      </p:sp>
      <p:sp>
        <p:nvSpPr>
          <p:cNvPr id="20" name="Shape 15"/>
          <p:cNvSpPr/>
          <p:nvPr/>
        </p:nvSpPr>
        <p:spPr>
          <a:xfrm>
            <a:off x="640080" y="3840480"/>
            <a:ext cx="3474720" cy="1828800"/>
          </a:xfrm>
          <a:prstGeom prst="roundRect">
            <a:avLst>
              <a:gd name="adj" fmla="val 5000"/>
            </a:avLst>
          </a:prstGeom>
          <a:solidFill>
            <a:srgbClr val="F4F6F8"/>
          </a:solidFill>
          <a:ln/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60120" y="4133088"/>
            <a:ext cx="777240" cy="777240"/>
          </a:xfrm>
          <a:prstGeom prst="ellipse">
            <a:avLst/>
          </a:prstGeom>
          <a:solidFill>
            <a:srgbClr val="8B5CF6"/>
          </a:solidFill>
          <a:ln/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62202" y="4335170"/>
            <a:ext cx="373075" cy="373075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1874520" y="4133088"/>
            <a:ext cx="2148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Apache Airflow</a:t>
            </a:r>
            <a:endParaRPr lang="en-US" sz="1550" dirty="0"/>
          </a:p>
        </p:txBody>
      </p:sp>
      <p:sp>
        <p:nvSpPr>
          <p:cNvPr id="24" name="Text 18"/>
          <p:cNvSpPr/>
          <p:nvPr/>
        </p:nvSpPr>
        <p:spPr>
          <a:xfrm>
            <a:off x="960120" y="498348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4450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Scheduling, retries, observability; orchestration ≠ execution.</a:t>
            </a:r>
            <a:endParaRPr lang="en-US" sz="1250" dirty="0"/>
          </a:p>
        </p:txBody>
      </p:sp>
      <p:sp>
        <p:nvSpPr>
          <p:cNvPr id="25" name="Shape 19"/>
          <p:cNvSpPr/>
          <p:nvPr/>
        </p:nvSpPr>
        <p:spPr>
          <a:xfrm>
            <a:off x="4343400" y="3840480"/>
            <a:ext cx="3474720" cy="1828800"/>
          </a:xfrm>
          <a:prstGeom prst="roundRect">
            <a:avLst>
              <a:gd name="adj" fmla="val 5000"/>
            </a:avLst>
          </a:prstGeom>
          <a:solidFill>
            <a:srgbClr val="F4F6F8"/>
          </a:solidFill>
          <a:ln/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26" name="Shape 20"/>
          <p:cNvSpPr/>
          <p:nvPr/>
        </p:nvSpPr>
        <p:spPr>
          <a:xfrm>
            <a:off x="4663440" y="4133088"/>
            <a:ext cx="777240" cy="777240"/>
          </a:xfrm>
          <a:prstGeom prst="ellipse">
            <a:avLst/>
          </a:prstGeom>
          <a:solidFill>
            <a:srgbClr val="F59E0B"/>
          </a:solidFill>
          <a:ln/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65522" y="4335170"/>
            <a:ext cx="373075" cy="373075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5577840" y="4133088"/>
            <a:ext cx="2148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dbt tests</a:t>
            </a:r>
            <a:endParaRPr lang="en-US" sz="1550" dirty="0"/>
          </a:p>
        </p:txBody>
      </p:sp>
      <p:sp>
        <p:nvSpPr>
          <p:cNvPr id="29" name="Text 22"/>
          <p:cNvSpPr/>
          <p:nvPr/>
        </p:nvSpPr>
        <p:spPr>
          <a:xfrm>
            <a:off x="4663440" y="498348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4450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Uniqueness, not-null, relationships, format &amp; range checks.</a:t>
            </a:r>
            <a:endParaRPr lang="en-US" sz="1250" dirty="0"/>
          </a:p>
        </p:txBody>
      </p:sp>
      <p:sp>
        <p:nvSpPr>
          <p:cNvPr id="30" name="Shape 23"/>
          <p:cNvSpPr/>
          <p:nvPr/>
        </p:nvSpPr>
        <p:spPr>
          <a:xfrm>
            <a:off x="8046720" y="3840480"/>
            <a:ext cx="3474720" cy="1828800"/>
          </a:xfrm>
          <a:prstGeom prst="roundRect">
            <a:avLst>
              <a:gd name="adj" fmla="val 5000"/>
            </a:avLst>
          </a:prstGeom>
          <a:solidFill>
            <a:srgbClr val="F4F6F8"/>
          </a:solidFill>
          <a:ln/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31" name="Shape 24"/>
          <p:cNvSpPr/>
          <p:nvPr/>
        </p:nvSpPr>
        <p:spPr>
          <a:xfrm>
            <a:off x="8366760" y="4133088"/>
            <a:ext cx="777240" cy="777240"/>
          </a:xfrm>
          <a:prstGeom prst="ellipse">
            <a:avLst/>
          </a:prstGeom>
          <a:solidFill>
            <a:srgbClr val="1F2430"/>
          </a:solidFill>
          <a:ln/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3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68842" y="4335170"/>
            <a:ext cx="373075" cy="373075"/>
          </a:xfrm>
          <a:prstGeom prst="rect">
            <a:avLst/>
          </a:prstGeom>
        </p:spPr>
      </p:pic>
      <p:sp>
        <p:nvSpPr>
          <p:cNvPr id="33" name="Text 25"/>
          <p:cNvSpPr/>
          <p:nvPr/>
        </p:nvSpPr>
        <p:spPr>
          <a:xfrm>
            <a:off x="9281160" y="4133088"/>
            <a:ext cx="2148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Docker Compose</a:t>
            </a:r>
            <a:endParaRPr lang="en-US" sz="1550" dirty="0"/>
          </a:p>
        </p:txBody>
      </p:sp>
      <p:sp>
        <p:nvSpPr>
          <p:cNvPr id="34" name="Text 26"/>
          <p:cNvSpPr/>
          <p:nvPr/>
        </p:nvSpPr>
        <p:spPr>
          <a:xfrm>
            <a:off x="8366760" y="498348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4450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command reproduces the full environment anywhere.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E11D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1325880" y="41148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 Model &amp; ERD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344168" y="960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 schema in the marts layer — one conformed song dimension</a:t>
            </a:r>
            <a:endParaRPr lang="en-US" sz="1400" dirty="0"/>
          </a:p>
        </p:txBody>
      </p:sp>
      <p:pic>
        <p:nvPicPr>
          <p:cNvPr id="5" name="Image 0" descr="../docs/e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2236013" cy="512064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480560" y="1801368"/>
            <a:ext cx="146304" cy="146304"/>
          </a:xfrm>
          <a:prstGeom prst="ellipse">
            <a:avLst/>
          </a:prstGeom>
          <a:solidFill>
            <a:srgbClr val="12B5A5"/>
          </a:solidFill>
          <a:ln/>
        </p:spPr>
      </p:sp>
      <p:sp>
        <p:nvSpPr>
          <p:cNvPr id="7" name="Text 4"/>
          <p:cNvSpPr/>
          <p:nvPr/>
        </p:nvSpPr>
        <p:spPr>
          <a:xfrm>
            <a:off x="4800600" y="1627632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dim_song  </a:t>
            </a:r>
            <a:pPr indent="0" marL="0">
              <a:buNone/>
            </a:pPr>
            <a:r>
              <a:rPr lang="en-US" sz="1450" dirty="0">
                <a:solidFill>
                  <a:srgbClr val="4450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one row per internal song (PK song_id)</a:t>
            </a:r>
            <a:endParaRPr lang="en-US" sz="1450" dirty="0"/>
          </a:p>
        </p:txBody>
      </p:sp>
      <p:sp>
        <p:nvSpPr>
          <p:cNvPr id="8" name="Shape 5"/>
          <p:cNvSpPr/>
          <p:nvPr/>
        </p:nvSpPr>
        <p:spPr>
          <a:xfrm>
            <a:off x="4480560" y="2642616"/>
            <a:ext cx="146304" cy="146304"/>
          </a:xfrm>
          <a:prstGeom prst="ellipse">
            <a:avLst/>
          </a:prstGeom>
          <a:solidFill>
            <a:srgbClr val="12B5A5"/>
          </a:solidFill>
          <a:ln/>
        </p:spPr>
      </p:sp>
      <p:sp>
        <p:nvSpPr>
          <p:cNvPr id="9" name="Text 6"/>
          <p:cNvSpPr/>
          <p:nvPr/>
        </p:nvSpPr>
        <p:spPr>
          <a:xfrm>
            <a:off x="4800600" y="2468880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fct_spotify_tracks  </a:t>
            </a:r>
            <a:pPr indent="0" marL="0">
              <a:buNone/>
            </a:pPr>
            <a:r>
              <a:rPr lang="en-US" sz="1450" dirty="0">
                <a:solidFill>
                  <a:srgbClr val="4450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track grain → distinct ISRCs roll up here</a:t>
            </a:r>
            <a:endParaRPr lang="en-US" sz="1450" dirty="0"/>
          </a:p>
        </p:txBody>
      </p:sp>
      <p:sp>
        <p:nvSpPr>
          <p:cNvPr id="10" name="Shape 7"/>
          <p:cNvSpPr/>
          <p:nvPr/>
        </p:nvSpPr>
        <p:spPr>
          <a:xfrm>
            <a:off x="4480560" y="3483864"/>
            <a:ext cx="146304" cy="146304"/>
          </a:xfrm>
          <a:prstGeom prst="ellipse">
            <a:avLst/>
          </a:prstGeom>
          <a:solidFill>
            <a:srgbClr val="12B5A5"/>
          </a:solidFill>
          <a:ln/>
        </p:spPr>
      </p:sp>
      <p:sp>
        <p:nvSpPr>
          <p:cNvPr id="11" name="Text 8"/>
          <p:cNvSpPr/>
          <p:nvPr/>
        </p:nvSpPr>
        <p:spPr>
          <a:xfrm>
            <a:off x="4800600" y="3310128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fct_youtube_videos  </a:t>
            </a:r>
            <a:pPr indent="0" marL="0">
              <a:buNone/>
            </a:pPr>
            <a:r>
              <a:rPr lang="en-US" sz="1450" dirty="0">
                <a:solidFill>
                  <a:srgbClr val="4450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video grain → video count rolls up here</a:t>
            </a:r>
            <a:endParaRPr lang="en-US" sz="1450" dirty="0"/>
          </a:p>
        </p:txBody>
      </p:sp>
      <p:sp>
        <p:nvSpPr>
          <p:cNvPr id="12" name="Shape 9"/>
          <p:cNvSpPr/>
          <p:nvPr/>
        </p:nvSpPr>
        <p:spPr>
          <a:xfrm>
            <a:off x="4480560" y="4325112"/>
            <a:ext cx="146304" cy="146304"/>
          </a:xfrm>
          <a:prstGeom prst="ellipse">
            <a:avLst/>
          </a:prstGeom>
          <a:solidFill>
            <a:srgbClr val="12B5A5"/>
          </a:solidFill>
          <a:ln/>
        </p:spPr>
      </p:sp>
      <p:sp>
        <p:nvSpPr>
          <p:cNvPr id="13" name="Text 10"/>
          <p:cNvSpPr/>
          <p:nvPr/>
        </p:nvSpPr>
        <p:spPr>
          <a:xfrm>
            <a:off x="4800600" y="4151376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mart_song_*_counts  </a:t>
            </a:r>
            <a:pPr indent="0" marL="0">
              <a:buNone/>
            </a:pPr>
            <a:r>
              <a:rPr lang="en-US" sz="1450" dirty="0">
                <a:solidFill>
                  <a:srgbClr val="4450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the two business answers, 1 row / song</a:t>
            </a:r>
            <a:endParaRPr lang="en-US" sz="1450" dirty="0"/>
          </a:p>
        </p:txBody>
      </p:sp>
      <p:sp>
        <p:nvSpPr>
          <p:cNvPr id="14" name="Shape 11"/>
          <p:cNvSpPr/>
          <p:nvPr/>
        </p:nvSpPr>
        <p:spPr>
          <a:xfrm>
            <a:off x="4480560" y="5166360"/>
            <a:ext cx="146304" cy="146304"/>
          </a:xfrm>
          <a:prstGeom prst="ellipse">
            <a:avLst/>
          </a:prstGeom>
          <a:solidFill>
            <a:srgbClr val="12B5A5"/>
          </a:solidFill>
          <a:ln/>
        </p:spPr>
      </p:sp>
      <p:sp>
        <p:nvSpPr>
          <p:cNvPr id="15" name="Text 12"/>
          <p:cNvSpPr/>
          <p:nvPr/>
        </p:nvSpPr>
        <p:spPr>
          <a:xfrm>
            <a:off x="4800600" y="4992624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mart_song_overview  </a:t>
            </a:r>
            <a:pPr indent="0" marL="0">
              <a:buNone/>
            </a:pPr>
            <a:r>
              <a:rPr lang="en-US" sz="1450" dirty="0">
                <a:solidFill>
                  <a:srgbClr val="4450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both metrics joined for BI convenience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4754880" y="598932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 →  staging (views)  →  marts (tables)   ·   medallion architecture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E11D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1325880" y="41148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 Quality &amp; Validation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344168" y="960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run on every build — fail-fast before bad data reaches analysts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1737360"/>
            <a:ext cx="5303520" cy="1234440"/>
          </a:xfrm>
          <a:prstGeom prst="roundRect">
            <a:avLst>
              <a:gd name="adj" fmla="val 5926"/>
            </a:avLst>
          </a:prstGeom>
          <a:solidFill>
            <a:srgbClr val="F4F6F8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2029968"/>
            <a:ext cx="640080" cy="640080"/>
          </a:xfrm>
          <a:prstGeom prst="ellipse">
            <a:avLst/>
          </a:prstGeom>
          <a:solidFill>
            <a:srgbClr val="12B5A5"/>
          </a:solidFill>
          <a:ln/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196389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737360" y="1901952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Uniqueness &amp; not-null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1737360" y="2286000"/>
            <a:ext cx="4069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4450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every primary key (song_id, track_id, video_id) — catches dupes &amp; missing keys.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172200" y="1737360"/>
            <a:ext cx="5303520" cy="1234440"/>
          </a:xfrm>
          <a:prstGeom prst="roundRect">
            <a:avLst>
              <a:gd name="adj" fmla="val 5926"/>
            </a:avLst>
          </a:prstGeom>
          <a:solidFill>
            <a:srgbClr val="F4F6F8"/>
          </a:solidFill>
          <a:ln/>
        </p:spPr>
      </p:sp>
      <p:sp>
        <p:nvSpPr>
          <p:cNvPr id="11" name="Shape 8"/>
          <p:cNvSpPr/>
          <p:nvPr/>
        </p:nvSpPr>
        <p:spPr>
          <a:xfrm>
            <a:off x="6446520" y="2029968"/>
            <a:ext cx="640080" cy="640080"/>
          </a:xfrm>
          <a:prstGeom prst="ellipse">
            <a:avLst/>
          </a:prstGeom>
          <a:solidFill>
            <a:srgbClr val="12B5A5"/>
          </a:solidFill>
          <a:ln/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2941" y="2196389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7269480" y="1901952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Referential integrity</a:t>
            </a:r>
            <a:endParaRPr lang="en-US" sz="1500" dirty="0"/>
          </a:p>
        </p:txBody>
      </p:sp>
      <p:sp>
        <p:nvSpPr>
          <p:cNvPr id="14" name="Text 10"/>
          <p:cNvSpPr/>
          <p:nvPr/>
        </p:nvSpPr>
        <p:spPr>
          <a:xfrm>
            <a:off x="7269480" y="2286000"/>
            <a:ext cx="4069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4450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relationships tests ensure every fact row maps to a real dim_song.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640080" y="3154680"/>
            <a:ext cx="5303520" cy="1234440"/>
          </a:xfrm>
          <a:prstGeom prst="roundRect">
            <a:avLst>
              <a:gd name="adj" fmla="val 5926"/>
            </a:avLst>
          </a:prstGeom>
          <a:solidFill>
            <a:srgbClr val="F4F6F8"/>
          </a:solidFill>
          <a:ln/>
        </p:spPr>
      </p:sp>
      <p:sp>
        <p:nvSpPr>
          <p:cNvPr id="16" name="Shape 12"/>
          <p:cNvSpPr/>
          <p:nvPr/>
        </p:nvSpPr>
        <p:spPr>
          <a:xfrm>
            <a:off x="914400" y="3447288"/>
            <a:ext cx="640080" cy="640080"/>
          </a:xfrm>
          <a:prstGeom prst="ellipse">
            <a:avLst/>
          </a:prstGeom>
          <a:solidFill>
            <a:srgbClr val="12B5A5"/>
          </a:solidFill>
          <a:ln/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3613709"/>
            <a:ext cx="307238" cy="307238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737360" y="3319272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Format validation</a:t>
            </a:r>
            <a:endParaRPr lang="en-US" sz="1500" dirty="0"/>
          </a:p>
        </p:txBody>
      </p:sp>
      <p:sp>
        <p:nvSpPr>
          <p:cNvPr id="19" name="Text 14"/>
          <p:cNvSpPr/>
          <p:nvPr/>
        </p:nvSpPr>
        <p:spPr>
          <a:xfrm>
            <a:off x="1737360" y="3703320"/>
            <a:ext cx="4069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4450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ISRC must match CC-XXX-YY-NNNNN; malformed-but-present values flagged as anomalies.</a:t>
            </a:r>
            <a:endParaRPr lang="en-US" sz="1200" dirty="0"/>
          </a:p>
        </p:txBody>
      </p:sp>
      <p:sp>
        <p:nvSpPr>
          <p:cNvPr id="20" name="Shape 15"/>
          <p:cNvSpPr/>
          <p:nvPr/>
        </p:nvSpPr>
        <p:spPr>
          <a:xfrm>
            <a:off x="6172200" y="3154680"/>
            <a:ext cx="5303520" cy="1234440"/>
          </a:xfrm>
          <a:prstGeom prst="roundRect">
            <a:avLst>
              <a:gd name="adj" fmla="val 5926"/>
            </a:avLst>
          </a:prstGeom>
          <a:solidFill>
            <a:srgbClr val="F4F6F8"/>
          </a:solidFill>
          <a:ln/>
        </p:spPr>
      </p:sp>
      <p:sp>
        <p:nvSpPr>
          <p:cNvPr id="21" name="Shape 16"/>
          <p:cNvSpPr/>
          <p:nvPr/>
        </p:nvSpPr>
        <p:spPr>
          <a:xfrm>
            <a:off x="6446520" y="3447288"/>
            <a:ext cx="640080" cy="640080"/>
          </a:xfrm>
          <a:prstGeom prst="ellipse">
            <a:avLst/>
          </a:prstGeom>
          <a:solidFill>
            <a:srgbClr val="12B5A5"/>
          </a:solidFill>
          <a:ln/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12941" y="3613709"/>
            <a:ext cx="307238" cy="307238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7269480" y="3319272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Deduplication</a:t>
            </a:r>
            <a:endParaRPr lang="en-US" sz="1500" dirty="0"/>
          </a:p>
        </p:txBody>
      </p:sp>
      <p:sp>
        <p:nvSpPr>
          <p:cNvPr id="24" name="Text 18"/>
          <p:cNvSpPr/>
          <p:nvPr/>
        </p:nvSpPr>
        <p:spPr>
          <a:xfrm>
            <a:off x="7269480" y="3703320"/>
            <a:ext cx="4069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4450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row_number() windows keep the latest row per natural key in staging.</a:t>
            </a:r>
            <a:endParaRPr lang="en-US" sz="1200" dirty="0"/>
          </a:p>
        </p:txBody>
      </p:sp>
      <p:sp>
        <p:nvSpPr>
          <p:cNvPr id="25" name="Shape 19"/>
          <p:cNvSpPr/>
          <p:nvPr/>
        </p:nvSpPr>
        <p:spPr>
          <a:xfrm>
            <a:off x="640080" y="4572000"/>
            <a:ext cx="5303520" cy="1234440"/>
          </a:xfrm>
          <a:prstGeom prst="roundRect">
            <a:avLst>
              <a:gd name="adj" fmla="val 5926"/>
            </a:avLst>
          </a:prstGeom>
          <a:solidFill>
            <a:srgbClr val="F4F6F8"/>
          </a:solidFill>
          <a:ln/>
        </p:spPr>
      </p:sp>
      <p:sp>
        <p:nvSpPr>
          <p:cNvPr id="26" name="Shape 20"/>
          <p:cNvSpPr/>
          <p:nvPr/>
        </p:nvSpPr>
        <p:spPr>
          <a:xfrm>
            <a:off x="914400" y="4864608"/>
            <a:ext cx="640080" cy="640080"/>
          </a:xfrm>
          <a:prstGeom prst="ellipse">
            <a:avLst/>
          </a:prstGeom>
          <a:solidFill>
            <a:srgbClr val="12B5A5"/>
          </a:solidFill>
          <a:ln/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0821" y="5031029"/>
            <a:ext cx="307238" cy="307238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1737360" y="4736592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Missing-data handling</a:t>
            </a:r>
            <a:endParaRPr lang="en-US" sz="1500" dirty="0"/>
          </a:p>
        </p:txBody>
      </p:sp>
      <p:sp>
        <p:nvSpPr>
          <p:cNvPr id="29" name="Text 22"/>
          <p:cNvSpPr/>
          <p:nvPr/>
        </p:nvSpPr>
        <p:spPr>
          <a:xfrm>
            <a:off x="1737360" y="5120640"/>
            <a:ext cx="4069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4450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 JOINs keep zero-match songs (count = 0) instead of dropping them.</a:t>
            </a:r>
            <a:endParaRPr lang="en-US" sz="1200" dirty="0"/>
          </a:p>
        </p:txBody>
      </p:sp>
      <p:sp>
        <p:nvSpPr>
          <p:cNvPr id="30" name="Shape 23"/>
          <p:cNvSpPr/>
          <p:nvPr/>
        </p:nvSpPr>
        <p:spPr>
          <a:xfrm>
            <a:off x="6172200" y="4572000"/>
            <a:ext cx="5303520" cy="1234440"/>
          </a:xfrm>
          <a:prstGeom prst="roundRect">
            <a:avLst>
              <a:gd name="adj" fmla="val 5926"/>
            </a:avLst>
          </a:prstGeom>
          <a:solidFill>
            <a:srgbClr val="F4F6F8"/>
          </a:solidFill>
          <a:ln/>
        </p:spPr>
      </p:sp>
      <p:sp>
        <p:nvSpPr>
          <p:cNvPr id="31" name="Shape 24"/>
          <p:cNvSpPr/>
          <p:nvPr/>
        </p:nvSpPr>
        <p:spPr>
          <a:xfrm>
            <a:off x="6446520" y="4864608"/>
            <a:ext cx="640080" cy="640080"/>
          </a:xfrm>
          <a:prstGeom prst="ellipse">
            <a:avLst/>
          </a:prstGeom>
          <a:solidFill>
            <a:srgbClr val="12B5A5"/>
          </a:solidFill>
          <a:ln/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3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12941" y="5031029"/>
            <a:ext cx="307238" cy="307238"/>
          </a:xfrm>
          <a:prstGeom prst="rect">
            <a:avLst/>
          </a:prstGeom>
        </p:spPr>
      </p:pic>
      <p:sp>
        <p:nvSpPr>
          <p:cNvPr id="33" name="Text 25"/>
          <p:cNvSpPr/>
          <p:nvPr/>
        </p:nvSpPr>
        <p:spPr>
          <a:xfrm>
            <a:off x="7269480" y="4736592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Corruption / anomaly</a:t>
            </a:r>
            <a:endParaRPr lang="en-US" sz="1500" dirty="0"/>
          </a:p>
        </p:txBody>
      </p:sp>
      <p:sp>
        <p:nvSpPr>
          <p:cNvPr id="34" name="Text 26"/>
          <p:cNvSpPr/>
          <p:nvPr/>
        </p:nvSpPr>
        <p:spPr>
          <a:xfrm>
            <a:off x="7269480" y="5120640"/>
            <a:ext cx="4069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4450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raw._load_audit tracks row-counts per load; sudden drops are alertable.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E11D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1325880" y="41148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Storage &amp; Scalability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344168" y="960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now → columnar cloud warehouse with no rewrite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1783080"/>
            <a:ext cx="5212080" cy="4023360"/>
          </a:xfrm>
          <a:prstGeom prst="roundRect">
            <a:avLst>
              <a:gd name="adj" fmla="val 2273"/>
            </a:avLst>
          </a:prstGeom>
          <a:solidFill>
            <a:srgbClr val="F4F6F8"/>
          </a:solidFill>
          <a:ln/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60120" y="2103120"/>
            <a:ext cx="777240" cy="777240"/>
          </a:xfrm>
          <a:prstGeom prst="ellipse">
            <a:avLst/>
          </a:prstGeom>
          <a:solidFill>
            <a:srgbClr val="3B82F6"/>
          </a:solidFill>
          <a:ln/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62202" y="2305202"/>
            <a:ext cx="373075" cy="37307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74520" y="2103120"/>
            <a:ext cx="3657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Today — PostgreSQL</a:t>
            </a:r>
            <a:endParaRPr lang="en-US" sz="1900" dirty="0"/>
          </a:p>
        </p:txBody>
      </p:sp>
      <p:sp>
        <p:nvSpPr>
          <p:cNvPr id="9" name="Text 6"/>
          <p:cNvSpPr/>
          <p:nvPr/>
        </p:nvSpPr>
        <p:spPr>
          <a:xfrm>
            <a:off x="1005840" y="3063240"/>
            <a:ext cx="45720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334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Schemas as access tiers — analysts read marts only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334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Marts materialized as tables for fast BI; staging as cheap views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334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anywhere via Docker; identical ANSI-SQL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334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Exposed on host:5433 for any SQL client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6309360" y="1783080"/>
            <a:ext cx="5212080" cy="4023360"/>
          </a:xfrm>
          <a:prstGeom prst="roundRect">
            <a:avLst>
              <a:gd name="adj" fmla="val 2273"/>
            </a:avLst>
          </a:prstGeom>
          <a:solidFill>
            <a:srgbClr val="14121C"/>
          </a:solidFill>
          <a:ln/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629400" y="2103120"/>
            <a:ext cx="777240" cy="777240"/>
          </a:xfrm>
          <a:prstGeom prst="ellipse">
            <a:avLst/>
          </a:prstGeom>
          <a:solidFill>
            <a:srgbClr val="12B5A5"/>
          </a:solidFill>
          <a:ln/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31482" y="2305202"/>
            <a:ext cx="373075" cy="373075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7543800" y="2103120"/>
            <a:ext cx="3749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 scale — Cloud warehouse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6675120" y="3063240"/>
            <a:ext cx="45720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DDE2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BigQuery / Snowflake / Redshift — change the dbt profile, not the models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DDE2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fct_* become incremental models (append new ingest dates)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DDE2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Partition by date, cluster / distkey on song_id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DDE2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Separation of storage &amp; compute, auto-suspend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E11D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1325880" y="41148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Monitoring &amp; Maintenance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344168" y="960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Keeping the pipeline robust and the data trustworthy over time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1783080"/>
            <a:ext cx="5303520" cy="3931920"/>
          </a:xfrm>
          <a:prstGeom prst="roundRect">
            <a:avLst>
              <a:gd name="adj" fmla="val 2326"/>
            </a:avLst>
          </a:prstGeom>
          <a:solidFill>
            <a:srgbClr val="F4F6F8"/>
          </a:solidFill>
          <a:ln/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005840" y="2103120"/>
            <a:ext cx="822960" cy="822960"/>
          </a:xfrm>
          <a:prstGeom prst="ellipse">
            <a:avLst/>
          </a:prstGeom>
          <a:solidFill>
            <a:srgbClr val="E11D2A"/>
          </a:solidFill>
          <a:ln/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19810" y="2317090"/>
            <a:ext cx="395021" cy="39502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2011680" y="210312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Monitoring</a:t>
            </a:r>
            <a:endParaRPr lang="en-US" sz="2100" dirty="0"/>
          </a:p>
        </p:txBody>
      </p:sp>
      <p:sp>
        <p:nvSpPr>
          <p:cNvPr id="9" name="Text 6"/>
          <p:cNvSpPr/>
          <p:nvPr/>
        </p:nvSpPr>
        <p:spPr>
          <a:xfrm>
            <a:off x="1051560" y="3154680"/>
            <a:ext cx="46177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334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Airflow UI: per-task status, duration, logs</a:t>
            </a:r>
            <a:endParaRPr lang="en-US" sz="14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334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Retries 3× with exponential backoff; on-failure alerts (email/Slack)</a:t>
            </a:r>
            <a:endParaRPr lang="en-US" sz="14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334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dbt tests gate publishing of marts</a:t>
            </a:r>
            <a:endParaRPr lang="en-US" sz="14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334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load-audit row-count trends per source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6172200" y="1783080"/>
            <a:ext cx="5303520" cy="3931920"/>
          </a:xfrm>
          <a:prstGeom prst="roundRect">
            <a:avLst>
              <a:gd name="adj" fmla="val 2326"/>
            </a:avLst>
          </a:prstGeom>
          <a:solidFill>
            <a:srgbClr val="F4F6F8"/>
          </a:solidFill>
          <a:ln/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537960" y="2103120"/>
            <a:ext cx="822960" cy="822960"/>
          </a:xfrm>
          <a:prstGeom prst="ellipse">
            <a:avLst/>
          </a:prstGeom>
          <a:solidFill>
            <a:srgbClr val="12B5A5"/>
          </a:solidFill>
          <a:ln/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51930" y="2317090"/>
            <a:ext cx="395021" cy="39502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7543800" y="210312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Maintenance</a:t>
            </a:r>
            <a:endParaRPr lang="en-US" sz="2100" dirty="0"/>
          </a:p>
        </p:txBody>
      </p:sp>
      <p:sp>
        <p:nvSpPr>
          <p:cNvPr id="14" name="Text 10"/>
          <p:cNvSpPr/>
          <p:nvPr/>
        </p:nvSpPr>
        <p:spPr>
          <a:xfrm>
            <a:off x="6583680" y="3154680"/>
            <a:ext cx="46177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334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Idempotent refresh → incremental as volume grows</a:t>
            </a:r>
            <a:endParaRPr lang="en-US" sz="14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334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Schema drift absorbed in staging (flexible header mapping)</a:t>
            </a:r>
            <a:endParaRPr lang="en-US" sz="14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334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dbt docs = browsable catalog + lineage</a:t>
            </a:r>
            <a:endParaRPr lang="en-US" sz="14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334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Secrets via .env; rotate keys without code change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E11D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1325880" y="41148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Demo Output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344168" y="960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run on the provided catalog (698 songs; ISRC via Spotify)</a:t>
            </a:r>
            <a:endParaRPr lang="en-US" sz="14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83080"/>
          <a:ext cx="6858000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1737360"/>
                <a:gridCol w="1005840"/>
                <a:gridCol w="109728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E2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2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Artist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E2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2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ISRC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E2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2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 videos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E2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21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Bahasa Cinta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E2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E2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2B5A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E2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11D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E2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Rindu Mama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E2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E2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2B5A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E2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11D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E2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Guiding Lights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E2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E2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2B5A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E2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11D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E2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Panggil Aku Sayang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E2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E2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2B5A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E2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11D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E2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Dusta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E2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E2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2B5A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E2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11D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E2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Terbuai Asmara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E2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E2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2B5A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E2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11D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E2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Kemana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E2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Koes Plus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E2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2B5A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E2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11D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E2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 Free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E2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E2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2B5A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E2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11D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E2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7772400" y="1783080"/>
            <a:ext cx="3749040" cy="4206240"/>
          </a:xfrm>
          <a:prstGeom prst="roundRect">
            <a:avLst>
              <a:gd name="adj" fmla="val 2439"/>
            </a:avLst>
          </a:prstGeom>
          <a:solidFill>
            <a:srgbClr val="14121C"/>
          </a:solidFill>
          <a:ln/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8001000" y="196596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2B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marts.mart_song_overview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001000" y="2331720"/>
            <a:ext cx="3383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698</a:t>
            </a:r>
            <a:pPr indent="0" marL="0">
              <a:buNone/>
            </a:pPr>
            <a:r>
              <a:rPr lang="en-US" sz="1200" dirty="0">
                <a:solidFill>
                  <a:srgbClr val="C7CD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songs in catalog</a:t>
            </a:r>
            <a:endParaRPr lang="en-US" sz="2800" dirty="0"/>
          </a:p>
        </p:txBody>
      </p:sp>
      <p:sp>
        <p:nvSpPr>
          <p:cNvPr id="9" name="Text 6"/>
          <p:cNvSpPr/>
          <p:nvPr/>
        </p:nvSpPr>
        <p:spPr>
          <a:xfrm>
            <a:off x="8001000" y="2880360"/>
            <a:ext cx="3383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pPr indent="0" marL="0">
              <a:buNone/>
            </a:pPr>
            <a:r>
              <a:rPr lang="en-US" sz="1200" dirty="0">
                <a:solidFill>
                  <a:srgbClr val="C7CD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processed / run (quota cap)</a:t>
            </a:r>
            <a:endParaRPr lang="en-US" sz="2800" dirty="0"/>
          </a:p>
        </p:txBody>
      </p:sp>
      <p:sp>
        <p:nvSpPr>
          <p:cNvPr id="10" name="Text 7"/>
          <p:cNvSpPr/>
          <p:nvPr/>
        </p:nvSpPr>
        <p:spPr>
          <a:xfrm>
            <a:off x="8001000" y="3429000"/>
            <a:ext cx="3383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 / 0</a:t>
            </a:r>
            <a:pPr indent="0" marL="0">
              <a:buNone/>
            </a:pPr>
            <a:r>
              <a:rPr lang="en-US" sz="1200" dirty="0">
                <a:solidFill>
                  <a:srgbClr val="C7CD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dbt tests pass / fail</a:t>
            </a:r>
            <a:endParaRPr lang="en-US" sz="2800" dirty="0"/>
          </a:p>
        </p:txBody>
      </p:sp>
      <p:sp>
        <p:nvSpPr>
          <p:cNvPr id="11" name="Text 8"/>
          <p:cNvSpPr/>
          <p:nvPr/>
        </p:nvSpPr>
        <p:spPr>
          <a:xfrm>
            <a:off x="8001000" y="4114800"/>
            <a:ext cx="33832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i="1" dirty="0">
                <a:solidFill>
                  <a:srgbClr val="C7CD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ISRC via Spotify Web API (Development Mode caps search at 10 results — Feb 2026). YouTube count is capped at 50 (search max). Source is pluggable (Spotify / MusicBrainz) via one env var.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2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828800"/>
            <a:ext cx="4572000" cy="4572000"/>
          </a:xfrm>
          <a:prstGeom prst="ellipse">
            <a:avLst/>
          </a:prstGeom>
          <a:solidFill>
            <a:srgbClr val="201B2E"/>
          </a:solidFill>
          <a:ln/>
        </p:spPr>
      </p:sp>
      <p:sp>
        <p:nvSpPr>
          <p:cNvPr id="3" name="Shape 1"/>
          <p:cNvSpPr/>
          <p:nvPr/>
        </p:nvSpPr>
        <p:spPr>
          <a:xfrm>
            <a:off x="640080" y="548640"/>
            <a:ext cx="822960" cy="822960"/>
          </a:xfrm>
          <a:prstGeom prst="ellipse">
            <a:avLst/>
          </a:prstGeom>
          <a:solidFill>
            <a:srgbClr val="E11D2A"/>
          </a:solidFill>
          <a:ln/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4050" y="762610"/>
            <a:ext cx="395021" cy="395021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600200" y="54864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Run it &amp; what's next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691640"/>
            <a:ext cx="5486400" cy="2103120"/>
          </a:xfrm>
          <a:prstGeom prst="roundRect">
            <a:avLst>
              <a:gd name="adj" fmla="val 4348"/>
            </a:avLst>
          </a:prstGeom>
          <a:solidFill>
            <a:srgbClr val="0B0A12"/>
          </a:solidFill>
          <a:ln/>
        </p:spPr>
      </p:sp>
      <p:sp>
        <p:nvSpPr>
          <p:cNvPr id="7" name="Shape 4"/>
          <p:cNvSpPr/>
          <p:nvPr/>
        </p:nvSpPr>
        <p:spPr>
          <a:xfrm>
            <a:off x="868680" y="1874520"/>
            <a:ext cx="502920" cy="502920"/>
          </a:xfrm>
          <a:prstGeom prst="ellipse">
            <a:avLst/>
          </a:prstGeom>
          <a:solidFill>
            <a:srgbClr val="12B5A5"/>
          </a:solidFill>
          <a:ln/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9439" y="2005279"/>
            <a:ext cx="241402" cy="24140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508760" y="187452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commands</a:t>
            </a:r>
            <a:endParaRPr lang="en-US" sz="1400" dirty="0"/>
          </a:p>
        </p:txBody>
      </p:sp>
      <p:sp>
        <p:nvSpPr>
          <p:cNvPr id="10" name="Text 6"/>
          <p:cNvSpPr/>
          <p:nvPr/>
        </p:nvSpPr>
        <p:spPr>
          <a:xfrm>
            <a:off x="914400" y="2468880"/>
            <a:ext cx="5029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7CF2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cp .env.example .env</a:t>
            </a:r>
            <a:endParaRPr lang="en-US" sz="13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7CF2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compose build</a:t>
            </a:r>
            <a:endParaRPr lang="en-US" sz="13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7CF2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compose run --rm pipeline run-all</a:t>
            </a:r>
            <a:endParaRPr lang="en-US" sz="1350" dirty="0"/>
          </a:p>
        </p:txBody>
      </p:sp>
      <p:sp>
        <p:nvSpPr>
          <p:cNvPr id="11" name="Text 7"/>
          <p:cNvSpPr/>
          <p:nvPr/>
        </p:nvSpPr>
        <p:spPr>
          <a:xfrm>
            <a:off x="6492240" y="17373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Next steps</a:t>
            </a:r>
            <a:endParaRPr lang="en-US" sz="1800" dirty="0"/>
          </a:p>
        </p:txBody>
      </p:sp>
      <p:sp>
        <p:nvSpPr>
          <p:cNvPr id="12" name="Text 8"/>
          <p:cNvSpPr/>
          <p:nvPr/>
        </p:nvSpPr>
        <p:spPr>
          <a:xfrm>
            <a:off x="6492240" y="2286000"/>
            <a:ext cx="50292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DDE2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Incremental fct_* models + freshness SLAs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DDE2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Relevance filtering on YouTube (Official Artist Channel, fuzzy match)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DDE2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ISRC source pluggable: Spotify needs Extended Quota Mode (2026 dev-mode) → used free MusicBrainz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DDE2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CI: run dbt tests on every PR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640080" y="4572000"/>
            <a:ext cx="10881360" cy="0"/>
          </a:xfrm>
          <a:prstGeom prst="line">
            <a:avLst/>
          </a:prstGeom>
          <a:noFill/>
          <a:ln w="12700">
            <a:solidFill>
              <a:srgbClr val="33304A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640080" y="4983480"/>
            <a:ext cx="640080" cy="640080"/>
          </a:xfrm>
          <a:prstGeom prst="ellipse">
            <a:avLst/>
          </a:prstGeom>
          <a:solidFill>
            <a:srgbClr val="E11D2A"/>
          </a:solidFill>
          <a:ln/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6501" y="5149901"/>
            <a:ext cx="307238" cy="307238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1463040" y="498348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  ·  </a:t>
            </a:r>
            <a:pPr indent="0" marL="0">
              <a:buNone/>
            </a:pPr>
            <a:r>
              <a:rPr lang="en-US" sz="1500" dirty="0">
                <a:solidFill>
                  <a:srgbClr val="9AA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repo + this deck submitted to adiyat.woro@massivemusic.co.id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MassiveMusic — DSP Metadata Pipeline</dc:title>
  <dc:subject>PptxGenJS Presentation</dc:subject>
  <dc:creator>Rizky</dc:creator>
  <cp:lastModifiedBy>Rizky</cp:lastModifiedBy>
  <cp:revision>1</cp:revision>
  <dcterms:created xsi:type="dcterms:W3CDTF">2026-06-15T04:33:12Z</dcterms:created>
  <dcterms:modified xsi:type="dcterms:W3CDTF">2026-06-15T04:33:12Z</dcterms:modified>
</cp:coreProperties>
</file>