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YouTube videos</c:v>
                </c:pt>
              </c:strCache>
            </c:strRef>
          </c:tx>
          <c:spPr>
            <a:solidFill>
              <a:srgbClr val="E11D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Flowers</c:v>
                  </c:pt>
                  <c:pt idx="1">
                    <c:v>Shivers</c:v>
                  </c:pt>
                  <c:pt idx="2">
                    <c:v>Bad Guy</c:v>
                  </c:pt>
                  <c:pt idx="3">
                    <c:v>Don't Start Now</c:v>
                  </c:pt>
                  <c:pt idx="4">
                    <c:v>As It Was</c:v>
                  </c:pt>
                  <c:pt idx="5">
                    <c:v>Levitating</c:v>
                  </c:pt>
                  <c:pt idx="6">
                    <c:v>good 4 u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Spotify ISRCs</c:v>
                </c:pt>
              </c:strCache>
            </c:strRef>
          </c:tx>
          <c:spPr>
            <a:solidFill>
              <a:srgbClr val="12B5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Flowers</c:v>
                  </c:pt>
                  <c:pt idx="1">
                    <c:v>Shivers</c:v>
                  </c:pt>
                  <c:pt idx="2">
                    <c:v>Bad Guy</c:v>
                  </c:pt>
                  <c:pt idx="3">
                    <c:v>Don't Start Now</c:v>
                  </c:pt>
                  <c:pt idx="4">
                    <c:v>As It Was</c:v>
                  </c:pt>
                  <c:pt idx="5">
                    <c:v>Levitating</c:v>
                  </c:pt>
                  <c:pt idx="6">
                    <c:v>good 4 u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3</c:v>
                </c:pt>
                <c:pt idx="2">
                  <c:v>2</c:v>
                </c:pt>
                <c:pt idx="3">
                  <c:v>4</c:v>
                </c:pt>
                <c:pt idx="4">
                  <c:v>2</c:v>
                </c:pt>
                <c:pt idx="5">
                  <c:v>2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201B2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840480" cy="3840480"/>
          </a:xfrm>
          <a:prstGeom prst="ellipse">
            <a:avLst/>
          </a:prstGeom>
          <a:solidFill>
            <a:srgbClr val="201B2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868680" cy="86868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817" y="100309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MUSIC  ·  TECHNICAL TEST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DSP Metadata Pipeline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retrieval, cleaning &amp; storage of song / video metadata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Spotify and YouTube — built for analysts and data scientists.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640080" cy="6400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1" y="5058461"/>
            <a:ext cx="307238" cy="30723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600200" y="4892040"/>
            <a:ext cx="640080" cy="6400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621" y="505846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468880" y="48920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· Rizky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pipeline, two questions the business needs answered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103120"/>
            <a:ext cx="914400" cy="91440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0744" y="234086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Videos / song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143000" y="32461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videos does each song have on YouTube?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143000" y="4434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 </a:t>
            </a:r>
            <a:pPr indent="0" marL="0">
              <a:buNone/>
            </a:pPr>
            <a:r>
              <a:rPr lang="en-US" sz="1250" b="1" dirty="0">
                <a:solidFill>
                  <a:srgbClr val="E1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mart_song_youtube_video_counts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75120" y="2103120"/>
            <a:ext cx="914400" cy="91440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4" y="234086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81812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ISRCs / song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675120" y="32461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ISRCs does each song have on Spotify?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75120" y="4434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 </a:t>
            </a:r>
            <a:pPr indent="0" marL="0">
              <a:buNone/>
            </a:pPr>
            <a:r>
              <a:rPr lang="en-US" sz="1250" b="1" dirty="0">
                <a:solidFill>
                  <a:srgbClr val="12B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mart_song_spotify_isrc_counts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internal song catalog (Google Sheet)  +  Spotify Web API  +  YouTube Data API v3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→ Load → Transform → Serve, orchestrated by Airflow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53896" y="2286000"/>
            <a:ext cx="914400" cy="91440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52374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jobs pull catalog, Spotify tracks &amp; YouTube videos. Retries + backoff, quota guard.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2606040"/>
            <a:ext cx="310896" cy="31089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7472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88536" y="2286000"/>
            <a:ext cx="914400" cy="914400"/>
          </a:xfrm>
          <a:prstGeom prst="ellipse">
            <a:avLst/>
          </a:prstGeom>
          <a:solidFill>
            <a:srgbClr val="1F243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523744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7472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→ RAW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370332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landing zone with ingest metadata + load-audit for lineage.</a:t>
            </a:r>
            <a:endParaRPr lang="en-US" sz="12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2606040"/>
            <a:ext cx="310896" cy="31089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30936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123176" y="2286000"/>
            <a:ext cx="914400" cy="91440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252374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30936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 (dbt)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653796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staging: clean, standardize, dedup, validate.  marts: dim + facts + answers.</a:t>
            </a:r>
            <a:endParaRPr lang="en-US" sz="12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2248" y="2606040"/>
            <a:ext cx="310896" cy="31089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14400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9957816" y="2286000"/>
            <a:ext cx="914400" cy="914400"/>
          </a:xfrm>
          <a:prstGeom prst="ellipse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5560" y="252374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14400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700" dirty="0"/>
          </a:p>
        </p:txBody>
      </p:sp>
      <p:sp>
        <p:nvSpPr>
          <p:cNvPr id="27" name="Text 18"/>
          <p:cNvSpPr/>
          <p:nvPr/>
        </p:nvSpPr>
        <p:spPr>
          <a:xfrm>
            <a:off x="937260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warehouse → SQL, BI &amp; data science.</a:t>
            </a:r>
            <a:endParaRPr lang="en-US" sz="1250" dirty="0"/>
          </a:p>
        </p:txBody>
      </p:sp>
      <p:sp>
        <p:nvSpPr>
          <p:cNvPr id="28" name="Shape 19"/>
          <p:cNvSpPr/>
          <p:nvPr/>
        </p:nvSpPr>
        <p:spPr>
          <a:xfrm>
            <a:off x="640080" y="521208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4121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914400" y="5376672"/>
            <a:ext cx="548640" cy="54864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046" y="5519318"/>
            <a:ext cx="263347" cy="263347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645920" y="52120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— Apache Airflow:  </a:t>
            </a:r>
            <a:pPr indent="0" marL="0">
              <a:buNone/>
            </a:pPr>
            <a:r>
              <a:rPr lang="en-US" sz="135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DAG, each stage a DockerOperator task with retries &amp; exponential backoff. Everything reproducible via Docker Compose.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Why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Local-runnable today, cloud-portable tomorrow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75688"/>
            <a:ext cx="777240" cy="77724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202" y="2277770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0756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+ spotipy / google-api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6012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with official SDKs; tenacity for retries &amp; backoff.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17830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075688"/>
            <a:ext cx="777240" cy="77724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522" y="2277770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20756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dbt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6344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SQL-first, versioned, tested transforms. Lineage + docs for free.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17830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66760" y="2075688"/>
            <a:ext cx="777240" cy="777240"/>
          </a:xfrm>
          <a:prstGeom prst="ellipse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8842" y="2277770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81160" y="20756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(medallion)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3667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/ staging / marts schemas. ANSI-SQL = lift-and-shift to cloud.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840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0120" y="4133088"/>
            <a:ext cx="777240" cy="777240"/>
          </a:xfrm>
          <a:prstGeom prst="ellipse">
            <a:avLst/>
          </a:prstGeom>
          <a:solidFill>
            <a:srgbClr val="8B5C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2202" y="4335170"/>
            <a:ext cx="373075" cy="3730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874520" y="41330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Airflow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6012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retries, observability; orchestration ≠ execution.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343400" y="3840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63440" y="4133088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5522" y="4335170"/>
            <a:ext cx="373075" cy="37307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577840" y="41330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dbt tests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466344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Uniqueness, not-null, relationships, format &amp; range checks.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66760" y="4133088"/>
            <a:ext cx="777240" cy="777240"/>
          </a:xfrm>
          <a:prstGeom prst="ellipse">
            <a:avLst/>
          </a:prstGeom>
          <a:solidFill>
            <a:srgbClr val="1F243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8842" y="4335170"/>
            <a:ext cx="373075" cy="373075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281160" y="41330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836676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reproduces the full environment anywhere.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&amp; ERD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in the marts layer — one conformed song dimension</a:t>
            </a:r>
            <a:endParaRPr lang="en-US" sz="1400" dirty="0"/>
          </a:p>
        </p:txBody>
      </p:sp>
      <p:pic>
        <p:nvPicPr>
          <p:cNvPr id="5" name="Image 0" descr="../docs/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236013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480560" y="1801368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7" name="Text 4"/>
          <p:cNvSpPr/>
          <p:nvPr/>
        </p:nvSpPr>
        <p:spPr>
          <a:xfrm>
            <a:off x="4800600" y="162763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dim_song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one row per internal song (PK song_id)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80560" y="2642616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9" name="Text 6"/>
          <p:cNvSpPr/>
          <p:nvPr/>
        </p:nvSpPr>
        <p:spPr>
          <a:xfrm>
            <a:off x="4800600" y="2468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fct_spotify_tracks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track grain → distinct ISRCs roll up here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480560" y="3483864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11" name="Text 8"/>
          <p:cNvSpPr/>
          <p:nvPr/>
        </p:nvSpPr>
        <p:spPr>
          <a:xfrm>
            <a:off x="4800600" y="331012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fct_youtube_videos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video grain → video count rolls up here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480560" y="4325112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13" name="Text 10"/>
          <p:cNvSpPr/>
          <p:nvPr/>
        </p:nvSpPr>
        <p:spPr>
          <a:xfrm>
            <a:off x="4800600" y="415137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mart_song_*_counts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two business answers, 1 row / song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4480560" y="5166360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499262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mart_song_overview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both metrics joined for BI convenience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754880" y="59893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 →  staging (views)  →  marts (tables)   ·   medallion architecture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&amp; Validation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 on every build — fail-fast before bad data reaches analysts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2996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196389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901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Uniqueness &amp; not-null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737360" y="22860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primary key (song_id, track_id, video_id) — catches dupes &amp; missing keys.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7373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202996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1" y="2196389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1901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Referential integrity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269480" y="22860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tests ensure every fact row maps to a real dim_song.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0080" y="31546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16" name="Shape 12"/>
          <p:cNvSpPr/>
          <p:nvPr/>
        </p:nvSpPr>
        <p:spPr>
          <a:xfrm>
            <a:off x="914400" y="344728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3613709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37360" y="33192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validation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737360" y="370332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ISRC must match CC-XXX-YY-NNNNN; malformed-but-present values flagged as anomalies.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172200" y="31546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21" name="Shape 16"/>
          <p:cNvSpPr/>
          <p:nvPr/>
        </p:nvSpPr>
        <p:spPr>
          <a:xfrm>
            <a:off x="6446520" y="344728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1" y="3613709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69480" y="33192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Deduplication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269480" y="370332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row_number() windows keep the latest row per natural key in staging.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40080" y="45720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26" name="Shape 20"/>
          <p:cNvSpPr/>
          <p:nvPr/>
        </p:nvSpPr>
        <p:spPr>
          <a:xfrm>
            <a:off x="914400" y="486460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1" y="5031029"/>
            <a:ext cx="307238" cy="30723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37360" y="47365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Missing-data handling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1737360" y="51206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JOINs keep zero-match songs (count = 0) instead of dropping them.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6172200" y="45720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31" name="Shape 24"/>
          <p:cNvSpPr/>
          <p:nvPr/>
        </p:nvSpPr>
        <p:spPr>
          <a:xfrm>
            <a:off x="6446520" y="486460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941" y="5031029"/>
            <a:ext cx="307238" cy="30723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269480" y="47365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Corruption / anomaly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7269480" y="51206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raw._load_audit tracks row-counts per load; sudden drops are alertable.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&amp; Scalability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now → columnar cloud warehouse with no rewrite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03120"/>
            <a:ext cx="777240" cy="777240"/>
          </a:xfrm>
          <a:prstGeom prst="ellipse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202" y="230520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— PostgreSQL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0584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as access tiers — analysts read marts only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Marts materialized as tables for fast BI; staging as cheap views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 via Docker; identical ANSI-SQL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on host:5433 for any SQL client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09360" y="178308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4121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2103120"/>
            <a:ext cx="777240" cy="77724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1482" y="230520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21031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scale — Cloud warehouse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/ Snowflake / Redshift — change the dbt profile, not the models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fct_* become incremental models (append new ingest dates)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by date, cluster / distkey on song_id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storage &amp; compute, auto-suspend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&amp; Maintenance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pipeline robust and the data trustworthy over time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810" y="231709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03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51560" y="315468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UI: per-task status, duration, logs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3× with exponential backoff; on-failure alerts (email/Slack)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tests gate publishing of marts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load-audit row-count trends per source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78308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103120"/>
            <a:ext cx="822960" cy="82296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2317090"/>
            <a:ext cx="395021" cy="3950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2103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Maintenance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583680" y="315468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refresh → incremental as volume grows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drift absorbed in staging (flexible header mapping)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docs = browsable catalog + lineage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via .env; rotate keys without code change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Output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15-song sample — both answers, materialized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69164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1783080"/>
            <a:ext cx="3657600" cy="4160520"/>
          </a:xfrm>
          <a:prstGeom prst="roundRect">
            <a:avLst>
              <a:gd name="adj" fmla="val 2500"/>
            </a:avLst>
          </a:prstGeom>
          <a:solidFill>
            <a:srgbClr val="14121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marts in one query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2423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B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marts.mart_song_overview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2926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pPr indent="0" marL="0">
              <a:buNone/>
            </a:pPr>
            <a:r>
              <a:rPr lang="en-US" sz="13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dbt models + tests passing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9244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failures · idempotent re-runs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09244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real API keys, or in mock mode for an offline demo.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4572000" cy="4572000"/>
          </a:xfrm>
          <a:prstGeom prst="ellipse">
            <a:avLst/>
          </a:prstGeom>
          <a:solidFill>
            <a:srgbClr val="201B2E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22960" cy="82296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62610"/>
            <a:ext cx="395021" cy="395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48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&amp; what's next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486400" cy="2103120"/>
          </a:xfrm>
          <a:prstGeom prst="roundRect">
            <a:avLst>
              <a:gd name="adj" fmla="val 4348"/>
            </a:avLst>
          </a:prstGeom>
          <a:solidFill>
            <a:srgbClr val="0B0A12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1874520"/>
            <a:ext cx="502920" cy="50292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2005279"/>
            <a:ext cx="241402" cy="2414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1874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commands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914400" y="24688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CF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CF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CF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run --rm pipeline run-all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92240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922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fct_* models + freshness SLAs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filtering on YouTube (Official Artist Channel, fuzzy match)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Spotify ISRC ↔ catalog ISRC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CI: run dbt tests on every PR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4572000"/>
            <a:ext cx="10881360" cy="0"/>
          </a:xfrm>
          <a:prstGeom prst="line">
            <a:avLst/>
          </a:prstGeom>
          <a:noFill/>
          <a:ln w="12700">
            <a:solidFill>
              <a:srgbClr val="33304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4983480"/>
            <a:ext cx="640080" cy="64008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514990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4983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</a:t>
            </a:r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 + this deck submitted to adiyat.woro@massivemusic.co.id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MassiveMusic — DSP Metadata Pipeline</dc:title>
  <dc:subject>PptxGenJS Presentation</dc:subject>
  <dc:creator>Rizky</dc:creator>
  <cp:lastModifiedBy>Rizky</cp:lastModifiedBy>
  <cp:revision>1</cp:revision>
  <dcterms:created xsi:type="dcterms:W3CDTF">2026-06-12T03:32:10Z</dcterms:created>
  <dcterms:modified xsi:type="dcterms:W3CDTF">2026-06-12T03:32:10Z</dcterms:modified>
</cp:coreProperties>
</file>