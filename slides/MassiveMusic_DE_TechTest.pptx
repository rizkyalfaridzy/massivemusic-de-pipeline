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6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3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72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029200" cy="5029200"/>
          </a:xfrm>
          <a:prstGeom prst="ellipse">
            <a:avLst/>
          </a:prstGeom>
          <a:solidFill>
            <a:srgbClr val="201B2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840480" cy="3840480"/>
          </a:xfrm>
          <a:prstGeom prst="ellipse">
            <a:avLst/>
          </a:prstGeom>
          <a:solidFill>
            <a:srgbClr val="201B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003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MUSIC  ·  TECHNICAL TEST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DSP Metadata Pipeline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retrieval, cleaning &amp; storage of song / video metadata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Spotify and YouTube — built for analysts and data scientists.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058461"/>
            <a:ext cx="307238" cy="30723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00200" y="48920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6621" y="50584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68880" y="4892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· Rizky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two questions the business needs answered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103120"/>
            <a:ext cx="914400" cy="91440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2340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/ song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143000" y="32461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videos does each song have on YouTube?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4300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</a:t>
            </a:r>
            <a:r>
              <a:rPr lang="en-US" sz="1250" b="1" dirty="0">
                <a:solidFill>
                  <a:srgbClr val="E1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mart_song_youtube_video_counts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103120"/>
            <a:ext cx="914400" cy="91440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34086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ISRCs / song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675120" y="32461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ISRCs does each song have on Spotify?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67512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</a:t>
            </a:r>
            <a:r>
              <a:rPr lang="en-US" sz="1250" b="1" dirty="0">
                <a:solidFill>
                  <a:srgbClr val="12B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mart_song_spotify_isrc_counts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 internal song catalog (Google Sheet)  +  Spotify Web API  +  YouTube Data API v3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Load → Transform → Serve, orchestrated by Airflow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3896" y="2286000"/>
            <a:ext cx="914400" cy="91440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5237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jobs pull catalog, ISRCs (Spotify → MusicBrainz fallback) &amp; YouTube videos. Retries, backoff, quota guard.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2606040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196596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88536" y="2286000"/>
            <a:ext cx="914400" cy="914400"/>
          </a:xfrm>
          <a:prstGeom prst="ellipse">
            <a:avLst/>
          </a:prstGeom>
          <a:solidFill>
            <a:srgbClr val="1F243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52374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→ RAW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703320" y="37947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landing zone with ingest metadata + load-audit for lineage.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2606040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09360" y="196596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123176" y="2286000"/>
            <a:ext cx="914400" cy="91440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252374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09360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(dbt)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537960" y="37947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staging: clean, standardize, dedup, validate.  marts: dim + facts + answers.</a:t>
            </a:r>
            <a:endParaRPr lang="en-US" sz="12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48" y="2606040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44000" y="196596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957816" y="2286000"/>
            <a:ext cx="914400" cy="9144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0" y="252374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44000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9372600" y="37947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warehouse → SQL, BI &amp; data science.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40080" y="52120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4121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914400" y="5376672"/>
            <a:ext cx="548640" cy="54864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" y="5519318"/>
            <a:ext cx="263347" cy="263347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645920" y="5212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Apache Airflow:  </a:t>
            </a:r>
            <a:r>
              <a:rPr lang="en-US" sz="13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DAG, each stage a DockerOperator task with retries &amp; exponential backoff. Everything reproducible via Docker Compose.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Why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Local-runnable today, cloud-portable tomorrow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75688"/>
            <a:ext cx="777240" cy="77724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277770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0756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Python: spotipy · MusicBrainz · YouTube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6012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ISRC source (Spotify or free MusicBrainz); tenacity retries.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075688"/>
            <a:ext cx="777240" cy="77724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522" y="2277770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0756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6344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SQL-first, versioned, tested transforms. Lineage + docs for free.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075688"/>
            <a:ext cx="777240" cy="7772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842" y="2277770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1160" y="20756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(medallion)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6676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staging / marts schemas. ANSI-SQL = lift-and-shift to cloud.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840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0120" y="4133088"/>
            <a:ext cx="777240" cy="77724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202" y="4335170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4133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6012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retries, observability; orchestration ≠ execution.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343400" y="3840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133088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5522" y="4335170"/>
            <a:ext cx="373075" cy="3730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4133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tests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6344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Uniqueness, not-null, relationships, format &amp; range checks.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046720" y="3840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6760" y="4133088"/>
            <a:ext cx="777240" cy="777240"/>
          </a:xfrm>
          <a:prstGeom prst="ellipse">
            <a:avLst/>
          </a:prstGeom>
          <a:solidFill>
            <a:srgbClr val="1F243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8842" y="4335170"/>
            <a:ext cx="373075" cy="3730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81160" y="4133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36676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reproduces the full environment anywhere.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ERD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in the marts layer — one conformed song dimension</a:t>
            </a:r>
            <a:endParaRPr lang="en-US" sz="1400" dirty="0"/>
          </a:p>
        </p:txBody>
      </p:sp>
      <p:pic>
        <p:nvPicPr>
          <p:cNvPr id="5" name="Image 0" descr="../docs/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627632"/>
            <a:ext cx="3053542" cy="4864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80560" y="1801368"/>
            <a:ext cx="146304" cy="146304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7" name="Text 4"/>
          <p:cNvSpPr/>
          <p:nvPr/>
        </p:nvSpPr>
        <p:spPr>
          <a:xfrm>
            <a:off x="4800600" y="16276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dim_song  </a:t>
            </a:r>
            <a:r>
              <a:rPr lang="en-US" sz="14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row per internal song (PK song_id)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80560" y="2642616"/>
            <a:ext cx="146304" cy="146304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9" name="Text 6"/>
          <p:cNvSpPr/>
          <p:nvPr/>
        </p:nvSpPr>
        <p:spPr>
          <a:xfrm>
            <a:off x="4800600" y="2468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fct_spotify_tracks  </a:t>
            </a:r>
            <a:r>
              <a:rPr lang="en-US" sz="14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track grain → distinct ISRCs roll up here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480560" y="3483864"/>
            <a:ext cx="146304" cy="146304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33101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fct_youtube_videos  </a:t>
            </a:r>
            <a:r>
              <a:rPr lang="en-US" sz="14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video grain → video count rolls up here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480560" y="4325112"/>
            <a:ext cx="146304" cy="146304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415137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mart_song_*_counts  </a:t>
            </a:r>
            <a:r>
              <a:rPr lang="en-US" sz="14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two business answers, 1 row / song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480560" y="5166360"/>
            <a:ext cx="146304" cy="146304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499262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mart_song_overview  </a:t>
            </a:r>
            <a:r>
              <a:rPr lang="en-US" sz="14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both metrics joined for BI convenience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754880" y="5989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 →  staging (views)  →  marts (tables)   ·   medallion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on every build — fail-fast before bad data reaches analysts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19638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 &amp; not-null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7360" y="22860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primary key (song_id, track_id, video_id) — catches dupes &amp; missing keys.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373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029968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219638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69480" y="22860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tests ensure every fact row maps to a real dim_song.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3447288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3613709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3319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validation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737360" y="37033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ISRC must match CC-XXX-YY-NNNNN; malformed-but-present values flagged as anomalies.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3447288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3613709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319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269480" y="37033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windows keep the latest row per natural key in staging.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457200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26" name="Shape 20"/>
          <p:cNvSpPr/>
          <p:nvPr/>
        </p:nvSpPr>
        <p:spPr>
          <a:xfrm>
            <a:off x="914400" y="4864608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03102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37360" y="4736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Missing-data handling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737360" y="51206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JOINs keep zero-match songs (count = 0) instead of dropping them.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172200" y="457200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31" name="Shape 24"/>
          <p:cNvSpPr/>
          <p:nvPr/>
        </p:nvSpPr>
        <p:spPr>
          <a:xfrm>
            <a:off x="6446520" y="4864608"/>
            <a:ext cx="640080" cy="64008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5031029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69480" y="4736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Corruption / anomaly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7269480" y="51206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raw._load_audit tracks row-counts per load; sudden drops are alertable.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Scalability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now → columnar cloud warehouse with no rewrite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03120"/>
            <a:ext cx="777240" cy="7772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30520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PostgreSQL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as access tiers — analysts read marts only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materialized as tables for fast BI; staging as cheap views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 via Docker; identical ANSI-SQL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on host:5433 for any SQL client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4121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03120"/>
            <a:ext cx="777240" cy="77724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82" y="23052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1031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scale — Cloud warehouse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Snowflake / Redshift — change the dbt profile, not the models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fct_* become incremental models (append new ingest dates)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date, cluster / distkey on song_id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storage &amp; compute, auto-suspend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pipeline robust and the data trustworthy over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03120"/>
            <a:ext cx="822960" cy="82296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10" y="231709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51560" y="31546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UI: per-task status, duration, logs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3× with exponential backoff; on-failure alerts (email/Slack)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gate publishing of marts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load-audit row-count trends per source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03120"/>
            <a:ext cx="822960" cy="82296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231709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583680" y="31546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refresh → incremental as volume grows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absorbed in staging (flexible header mapping)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docs = browsable catalog + lineage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.env; rotate keys without code change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44168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on the provided catalog (698 songs; 30 processed this run)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858000" cy="345643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 videos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Puja Pau Sen Ta Ti /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 Nitik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Mmm Pengen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Bertahan Hidup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Rindu Mama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Idk How To 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1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78308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14121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B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marts.mart_song_overview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698</a:t>
            </a: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songs in catalog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0100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processed / run (quota cap)</a:t>
            </a:r>
            <a:endParaRPr lang="en-US" sz="2800" dirty="0"/>
          </a:p>
        </p:txBody>
      </p:sp>
      <p:sp>
        <p:nvSpPr>
          <p:cNvPr id="5" name="Text 7"/>
          <p:cNvSpPr/>
          <p:nvPr/>
        </p:nvSpPr>
        <p:spPr>
          <a:xfrm>
            <a:off x="800100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0</a:t>
            </a: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dbt tests pass / fail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001000" y="4114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count is capped at 50 (search max). ISRC via MusicBrainz is sparse for this niche catalog; switches to Spotify once Extended Quota Mode is granted — no pipeline change.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20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76261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48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&amp; what's next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0B0A12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2B5A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20052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2468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F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F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F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pipeline run-all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2860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fct_* models + freshness SLAs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filtering on YouTube (Official Artist Channel, fuzzy match)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ISRC source pluggable: Spotify needs Extended Quota Mode (2026 dev-mode) → used free MusicBrainz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run dbt tests on every PR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572000"/>
            <a:ext cx="10881360" cy="0"/>
          </a:xfrm>
          <a:prstGeom prst="line">
            <a:avLst/>
          </a:prstGeom>
          <a:noFill/>
          <a:ln w="12700">
            <a:solidFill>
              <a:srgbClr val="3330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E11D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51499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</a:t>
            </a:r>
            <a:r>
              <a:rPr lang="en-US" sz="15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+ this deck submitted to adiyat.woro@massivemusic.co.id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955</Words>
  <Application>Microsoft Macintosh PowerPoint</Application>
  <PresentationFormat>Layar Lebar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MassiveMusic — DSP Metadata Pipeline</dc:title>
  <dc:subject>PptxGenJS Presentation</dc:subject>
  <dc:creator>Rizky</dc:creator>
  <cp:lastModifiedBy>Microsoft Office User</cp:lastModifiedBy>
  <cp:revision>2</cp:revision>
  <dcterms:created xsi:type="dcterms:W3CDTF">2026-06-15T02:59:23Z</dcterms:created>
  <dcterms:modified xsi:type="dcterms:W3CDTF">2026-06-15T03:01:41Z</dcterms:modified>
</cp:coreProperties>
</file>